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al Bold" panose="020B0704020202020204" pitchFamily="34" charset="0"/>
      <p:regular r:id="rId19"/>
      <p:bold r:id="rId20"/>
    </p:embeddedFont>
    <p:embeddedFont>
      <p:font typeface="Calibri (MS)" panose="020B0604020202020204" charset="0"/>
      <p:regular r:id="rId21"/>
    </p:embeddedFont>
    <p:embeddedFont>
      <p:font typeface="Calibri (MS) Bold" panose="020B0604020202020204" charset="0"/>
      <p:regular r:id="rId22"/>
    </p:embeddedFont>
    <p:embeddedFont>
      <p:font typeface="Open Sans" panose="020B0606030504020204" pitchFamily="3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7" d="100"/>
          <a:sy n="77" d="100"/>
        </p:scale>
        <p:origin x="7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359099"/>
            <a:ext cx="11636574" cy="1038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10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Customer Credit Default Prediction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746474"/>
            <a:ext cx="634439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10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AAI500 - Applied Artificial Intelligence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614589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10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San Diego University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4482702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10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68082" y="5284142"/>
            <a:ext cx="15727681" cy="59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9393C"/>
                </a:solidFill>
                <a:latin typeface="Arial"/>
                <a:ea typeface="Arial"/>
                <a:cs typeface="Arial"/>
                <a:sym typeface="Arial"/>
              </a:rPr>
              <a:t>Anugrah Rastogi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8082" y="5836890"/>
            <a:ext cx="15727681" cy="59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9393C"/>
                </a:solidFill>
                <a:latin typeface="Arial"/>
                <a:ea typeface="Arial"/>
                <a:cs typeface="Arial"/>
                <a:sym typeface="Arial"/>
              </a:rPr>
              <a:t>Mallesham 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68082" y="6389637"/>
            <a:ext cx="15727681" cy="59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9393C"/>
                </a:solidFill>
                <a:latin typeface="Arial"/>
                <a:ea typeface="Arial"/>
                <a:cs typeface="Arial"/>
                <a:sym typeface="Arial"/>
              </a:rPr>
              <a:t>Dhrub Satyam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7335142"/>
            <a:ext cx="354404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10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Instructor: Azka Azka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7" y="1359099"/>
            <a:ext cx="11636574" cy="995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10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Members &amp; Their Contributions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7" y="2746474"/>
            <a:ext cx="6344394" cy="48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10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Anugrah Rastogi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879999"/>
            <a:ext cx="3544044" cy="48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10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Dhrub Satyam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7013525"/>
            <a:ext cx="3544044" cy="48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10101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Mallesham 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1519" y="3351158"/>
            <a:ext cx="15727681" cy="136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764" lvl="1" indent="-164882" algn="l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39393C"/>
                </a:solidFill>
                <a:latin typeface="Arial"/>
                <a:ea typeface="Arial"/>
                <a:cs typeface="Arial"/>
                <a:sym typeface="Arial"/>
              </a:rPr>
              <a:t>Data Preparation</a:t>
            </a:r>
          </a:p>
          <a:p>
            <a:pPr marL="329764" lvl="1" indent="-164882" algn="l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39393C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</a:p>
          <a:p>
            <a:pPr marL="329764" lvl="1" indent="-164882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9393C"/>
                </a:solidFill>
                <a:latin typeface="Arial"/>
                <a:ea typeface="Arial"/>
                <a:cs typeface="Arial"/>
                <a:sym typeface="Arial"/>
              </a:rPr>
              <a:t>Plot and Analysis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0159" y="5453087"/>
            <a:ext cx="15727681" cy="919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764" lvl="1" indent="-164882" algn="l">
              <a:lnSpc>
                <a:spcPts val="3561"/>
              </a:lnSpc>
              <a:buFont typeface="Arial"/>
              <a:buChar char="•"/>
            </a:pPr>
            <a:r>
              <a:rPr lang="en-US" sz="2187">
                <a:solidFill>
                  <a:srgbClr val="39393C"/>
                </a:solidFill>
                <a:latin typeface="Arial"/>
                <a:ea typeface="Arial"/>
                <a:cs typeface="Arial"/>
                <a:sym typeface="Arial"/>
              </a:rPr>
              <a:t>Designed and tuned all ML models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9393C"/>
                </a:solidFill>
                <a:latin typeface="Arial"/>
                <a:ea typeface="Arial"/>
                <a:cs typeface="Arial"/>
                <a:sym typeface="Arial"/>
              </a:rPr>
              <a:t>Performed GridSearchCV and interpreted classification metrics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0159" y="7615187"/>
            <a:ext cx="15727681" cy="871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764" lvl="1" indent="-164882" algn="l">
              <a:lnSpc>
                <a:spcPts val="3561"/>
              </a:lnSpc>
              <a:buFont typeface="Arial"/>
              <a:buChar char="•"/>
            </a:pPr>
            <a:r>
              <a:rPr lang="en-US" sz="2187" dirty="0">
                <a:solidFill>
                  <a:srgbClr val="39393C"/>
                </a:solidFill>
                <a:latin typeface="Arial"/>
                <a:ea typeface="Arial"/>
                <a:cs typeface="Arial"/>
                <a:sym typeface="Arial"/>
              </a:rPr>
              <a:t>Final analysis</a:t>
            </a:r>
          </a:p>
          <a:p>
            <a:pPr marL="329763" lvl="1" indent="-164882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39393C"/>
                </a:solidFill>
                <a:latin typeface="Arial"/>
                <a:ea typeface="Arial"/>
                <a:cs typeface="Arial"/>
                <a:sym typeface="Arial"/>
              </a:rPr>
              <a:t>Conclusions and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07174" y="2292995"/>
            <a:ext cx="9909149" cy="43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2812"/>
              </a:lnSpc>
              <a:buFont typeface="Arial"/>
              <a:buChar char="•"/>
            </a:pPr>
            <a:r>
              <a:rPr lang="en-US" sz="224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customer credit default using machine learning.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07174" y="3680669"/>
            <a:ext cx="9909149" cy="43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2812"/>
              </a:lnSpc>
              <a:buFont typeface="Arial"/>
              <a:buChar char="•"/>
            </a:pPr>
            <a:r>
              <a:rPr lang="en-US" sz="224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70K training, 33K test records with 80+ features.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07174" y="5068341"/>
            <a:ext cx="9909149" cy="404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2812"/>
              </a:lnSpc>
              <a:buFont typeface="Arial"/>
              <a:buChar char="•"/>
            </a:pPr>
            <a:r>
              <a:rPr lang="en-US" sz="224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Data cleaning, One hot encoding, RobustScaler.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07174" y="6456015"/>
            <a:ext cx="9909149" cy="43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2812"/>
              </a:lnSpc>
              <a:buFont typeface="Arial"/>
              <a:buChar char="•"/>
            </a:pPr>
            <a:r>
              <a:rPr lang="en-US" sz="224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Regression, Decision Tree, Random Forest, XGBoost.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07174" y="7843689"/>
            <a:ext cx="9909149" cy="43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2812"/>
              </a:lnSpc>
              <a:buFont typeface="Arial"/>
              <a:buChar char="•"/>
            </a:pPr>
            <a:r>
              <a:rPr lang="en-US" sz="224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Forest performed best in accuracy and interpretability.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07174" y="9231363"/>
            <a:ext cx="9909149" cy="430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2812"/>
              </a:lnSpc>
              <a:buFont typeface="Arial"/>
              <a:buChar char="•"/>
            </a:pPr>
            <a:r>
              <a:rPr lang="en-US" sz="224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Random Forest with periodic fairness and performance audits.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1206" y="502475"/>
            <a:ext cx="5683300" cy="706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4"/>
              </a:lnSpc>
            </a:pPr>
            <a:r>
              <a:rPr lang="en-US" sz="3999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Abstract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9840" y="1802637"/>
            <a:ext cx="2841575" cy="4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2749"/>
              </a:lnSpc>
              <a:buFont typeface="Arial"/>
              <a:buChar char="•"/>
            </a:pPr>
            <a:r>
              <a:rPr lang="en-US" sz="2249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Aim: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9840" y="3190310"/>
            <a:ext cx="2841575" cy="4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2749"/>
              </a:lnSpc>
              <a:buFont typeface="Arial"/>
              <a:buChar char="•"/>
            </a:pPr>
            <a:r>
              <a:rPr lang="en-US" sz="2249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Data: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9840" y="4577984"/>
            <a:ext cx="2841575" cy="4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2749"/>
              </a:lnSpc>
              <a:buFont typeface="Arial"/>
              <a:buChar char="•"/>
            </a:pPr>
            <a:r>
              <a:rPr lang="en-US" sz="2249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Methods: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09840" y="5965657"/>
            <a:ext cx="2841575" cy="4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2749"/>
              </a:lnSpc>
              <a:buFont typeface="Arial"/>
              <a:buChar char="•"/>
            </a:pPr>
            <a:r>
              <a:rPr lang="en-US" sz="2249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Models: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9840" y="7353331"/>
            <a:ext cx="2841575" cy="4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2749"/>
              </a:lnSpc>
              <a:buFont typeface="Arial"/>
              <a:buChar char="•"/>
            </a:pPr>
            <a:r>
              <a:rPr lang="en-US" sz="2249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Outcome: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09840" y="8741004"/>
            <a:ext cx="2841575" cy="4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2749"/>
              </a:lnSpc>
              <a:buFont typeface="Arial"/>
              <a:buChar char="•"/>
            </a:pPr>
            <a:r>
              <a:rPr lang="en-US" sz="2249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Suggestion: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1041796"/>
            <a:ext cx="6531917" cy="701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5"/>
              </a:lnSpc>
            </a:pPr>
            <a:r>
              <a:rPr lang="en-US" sz="3999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Introduction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" y="2345382"/>
            <a:ext cx="9601200" cy="1505248"/>
            <a:chOff x="0" y="0"/>
            <a:chExt cx="12801600" cy="20069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01727" cy="2007108"/>
            </a:xfrm>
            <a:custGeom>
              <a:avLst/>
              <a:gdLst/>
              <a:ahLst/>
              <a:cxnLst/>
              <a:rect l="l" t="t" r="r" b="b"/>
              <a:pathLst>
                <a:path w="12801727" h="2007108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2749403" y="0"/>
                  </a:lnTo>
                  <a:cubicBezTo>
                    <a:pt x="12778232" y="0"/>
                    <a:pt x="12801727" y="23368"/>
                    <a:pt x="12801727" y="52324"/>
                  </a:cubicBezTo>
                  <a:lnTo>
                    <a:pt x="12801727" y="1954784"/>
                  </a:lnTo>
                  <a:cubicBezTo>
                    <a:pt x="12801727" y="1983613"/>
                    <a:pt x="12778360" y="2007108"/>
                    <a:pt x="12749403" y="2007108"/>
                  </a:cubicBezTo>
                  <a:lnTo>
                    <a:pt x="52324" y="2007108"/>
                  </a:lnTo>
                  <a:cubicBezTo>
                    <a:pt x="23495" y="2007108"/>
                    <a:pt x="0" y="1983740"/>
                    <a:pt x="0" y="19547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75594" y="2549426"/>
            <a:ext cx="3265885" cy="46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Problem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5594" y="3038029"/>
            <a:ext cx="9078814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1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Credit default prediction helps financial institutions manage risk.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14400" y="4111824"/>
            <a:ext cx="9601200" cy="1505248"/>
            <a:chOff x="0" y="0"/>
            <a:chExt cx="12801600" cy="20069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01727" cy="2007108"/>
            </a:xfrm>
            <a:custGeom>
              <a:avLst/>
              <a:gdLst/>
              <a:ahLst/>
              <a:cxnLst/>
              <a:rect l="l" t="t" r="r" b="b"/>
              <a:pathLst>
                <a:path w="12801727" h="2007108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2749403" y="0"/>
                  </a:lnTo>
                  <a:cubicBezTo>
                    <a:pt x="12778232" y="0"/>
                    <a:pt x="12801727" y="23368"/>
                    <a:pt x="12801727" y="52324"/>
                  </a:cubicBezTo>
                  <a:lnTo>
                    <a:pt x="12801727" y="1954784"/>
                  </a:lnTo>
                  <a:cubicBezTo>
                    <a:pt x="12801727" y="1983613"/>
                    <a:pt x="12778360" y="2007108"/>
                    <a:pt x="12749403" y="2007108"/>
                  </a:cubicBezTo>
                  <a:lnTo>
                    <a:pt x="52324" y="2007108"/>
                  </a:lnTo>
                  <a:cubicBezTo>
                    <a:pt x="23495" y="2007108"/>
                    <a:pt x="0" y="1983740"/>
                    <a:pt x="0" y="19547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75594" y="4315866"/>
            <a:ext cx="3265885" cy="46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Objective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5594" y="4804470"/>
            <a:ext cx="9078814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1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Build ML models using behavioral &amp; demographic data to predict defaults.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14400" y="5878265"/>
            <a:ext cx="9601200" cy="1505248"/>
            <a:chOff x="0" y="0"/>
            <a:chExt cx="12801600" cy="20069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01727" cy="2007108"/>
            </a:xfrm>
            <a:custGeom>
              <a:avLst/>
              <a:gdLst/>
              <a:ahLst/>
              <a:cxnLst/>
              <a:rect l="l" t="t" r="r" b="b"/>
              <a:pathLst>
                <a:path w="12801727" h="2007108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2749403" y="0"/>
                  </a:lnTo>
                  <a:cubicBezTo>
                    <a:pt x="12778232" y="0"/>
                    <a:pt x="12801727" y="23368"/>
                    <a:pt x="12801727" y="52324"/>
                  </a:cubicBezTo>
                  <a:lnTo>
                    <a:pt x="12801727" y="1954784"/>
                  </a:lnTo>
                  <a:cubicBezTo>
                    <a:pt x="12801727" y="1983613"/>
                    <a:pt x="12778360" y="2007108"/>
                    <a:pt x="12749403" y="2007108"/>
                  </a:cubicBezTo>
                  <a:lnTo>
                    <a:pt x="52324" y="2007108"/>
                  </a:lnTo>
                  <a:cubicBezTo>
                    <a:pt x="23495" y="2007108"/>
                    <a:pt x="0" y="1983740"/>
                    <a:pt x="0" y="19547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75594" y="6082307"/>
            <a:ext cx="3265885" cy="46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Dataset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5594" y="6570910"/>
            <a:ext cx="9078814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1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Public Kaggle dataset (2023) with various personal and financial attributes.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14400" y="7644705"/>
            <a:ext cx="9601200" cy="1505248"/>
            <a:chOff x="0" y="0"/>
            <a:chExt cx="12801600" cy="200699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801727" cy="2007108"/>
            </a:xfrm>
            <a:custGeom>
              <a:avLst/>
              <a:gdLst/>
              <a:ahLst/>
              <a:cxnLst/>
              <a:rect l="l" t="t" r="r" b="b"/>
              <a:pathLst>
                <a:path w="12801727" h="2007108">
                  <a:moveTo>
                    <a:pt x="0" y="52324"/>
                  </a:moveTo>
                  <a:cubicBezTo>
                    <a:pt x="0" y="23368"/>
                    <a:pt x="23368" y="0"/>
                    <a:pt x="52324" y="0"/>
                  </a:cubicBezTo>
                  <a:lnTo>
                    <a:pt x="12749403" y="0"/>
                  </a:lnTo>
                  <a:cubicBezTo>
                    <a:pt x="12778232" y="0"/>
                    <a:pt x="12801727" y="23368"/>
                    <a:pt x="12801727" y="52324"/>
                  </a:cubicBezTo>
                  <a:lnTo>
                    <a:pt x="12801727" y="1954784"/>
                  </a:lnTo>
                  <a:cubicBezTo>
                    <a:pt x="12801727" y="1983613"/>
                    <a:pt x="12778360" y="2007108"/>
                    <a:pt x="12749403" y="2007108"/>
                  </a:cubicBezTo>
                  <a:lnTo>
                    <a:pt x="52324" y="2007108"/>
                  </a:lnTo>
                  <a:cubicBezTo>
                    <a:pt x="23495" y="2007108"/>
                    <a:pt x="0" y="1983740"/>
                    <a:pt x="0" y="1954784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75594" y="7848749"/>
            <a:ext cx="3265885" cy="46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Goal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75594" y="8337351"/>
            <a:ext cx="9078814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1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interpretable, accurate, and deployable predictive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25401" y="581769"/>
            <a:ext cx="8020942" cy="67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00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Real-World Motivation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56266" y="2757184"/>
            <a:ext cx="15176773" cy="264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Banks need to detect defaulters before credit approval.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50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financial losses, speeds up approvals, and improves compliance.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39750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 used machine learning to automate and improve this prediction process using real customer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25401" y="581769"/>
            <a:ext cx="10313091" cy="67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00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Data Handling &amp; Preparation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5401" y="5316866"/>
            <a:ext cx="4314992" cy="44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2437" lvl="1" indent="-226219" algn="l">
              <a:lnSpc>
                <a:spcPts val="2874"/>
              </a:lnSpc>
              <a:buFont typeface="Arial"/>
              <a:buChar char="•"/>
            </a:pPr>
            <a:r>
              <a:rPr lang="en-US" sz="3000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Missing Values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64491" y="5791776"/>
            <a:ext cx="6343463" cy="427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2937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Filled missing numeric values using median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5401" y="7487511"/>
            <a:ext cx="5132011" cy="35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2437" lvl="1" indent="-226219" algn="l">
              <a:lnSpc>
                <a:spcPts val="2874"/>
              </a:lnSpc>
              <a:buFont typeface="Arial"/>
              <a:buChar char="•"/>
            </a:pPr>
            <a:r>
              <a:rPr lang="en-US" sz="3000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Categorical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64492" y="7944728"/>
            <a:ext cx="7279508" cy="42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327" lvl="1" indent="-187663" algn="l">
              <a:lnSpc>
                <a:spcPts val="2924"/>
              </a:lnSpc>
              <a:buFont typeface="Arial"/>
              <a:buChar char="•"/>
            </a:pPr>
            <a:r>
              <a:rPr lang="en-US" sz="2488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One hot encoded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58300" y="3081624"/>
            <a:ext cx="4069341" cy="44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0392" lvl="1" indent="-225196" algn="l">
              <a:lnSpc>
                <a:spcPts val="2862"/>
              </a:lnSpc>
              <a:buFont typeface="Arial"/>
              <a:buChar char="•"/>
            </a:pPr>
            <a:r>
              <a:rPr lang="en-US" sz="2986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Feature Scaling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92692" y="3650535"/>
            <a:ext cx="6913218" cy="42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327" lvl="1" indent="-187663" algn="l">
              <a:lnSpc>
                <a:spcPts val="2924"/>
              </a:lnSpc>
              <a:buFont typeface="Arial"/>
              <a:buChar char="•"/>
            </a:pPr>
            <a:r>
              <a:rPr lang="en-US" sz="2488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Used RobustScaler to minimize effect of outliers.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58301" y="5350825"/>
            <a:ext cx="2934659" cy="35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0392" lvl="1" indent="-225196" algn="l">
              <a:lnSpc>
                <a:spcPts val="2862"/>
              </a:lnSpc>
              <a:buFont typeface="Arial"/>
              <a:buChar char="•"/>
            </a:pPr>
            <a:r>
              <a:rPr lang="en-US" sz="2986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Target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92693" y="5904002"/>
            <a:ext cx="6069896" cy="423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327" lvl="1" indent="-187663" algn="l">
              <a:lnSpc>
                <a:spcPts val="2924"/>
              </a:lnSpc>
              <a:buFont typeface="Arial"/>
              <a:buChar char="•"/>
            </a:pPr>
            <a:r>
              <a:rPr lang="en-US" sz="2488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0 - Non-default, 1 - Default.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58302" y="7514139"/>
            <a:ext cx="4817819" cy="44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0392" lvl="1" indent="-225196" algn="l">
              <a:lnSpc>
                <a:spcPts val="2862"/>
              </a:lnSpc>
              <a:buFont typeface="Arial"/>
              <a:buChar char="•"/>
            </a:pPr>
            <a:r>
              <a:rPr lang="en-US" sz="2986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Feature Alignment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94865" y="7932156"/>
            <a:ext cx="7392146" cy="42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327" lvl="1" indent="-187663" algn="l">
              <a:lnSpc>
                <a:spcPts val="2924"/>
              </a:lnSpc>
              <a:buFont typeface="Arial"/>
              <a:buChar char="•"/>
            </a:pPr>
            <a:r>
              <a:rPr lang="en-US" sz="2488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Ensured consistency across training and test datasets.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5401" y="2992874"/>
            <a:ext cx="3861309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2437" lvl="1" indent="-226219" algn="l">
              <a:lnSpc>
                <a:spcPts val="30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Dataset 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01625" y="3319444"/>
            <a:ext cx="5724445" cy="1544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endParaRPr/>
          </a:p>
          <a:p>
            <a:pPr marL="377031" lvl="1" indent="-188516" algn="l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70,000 training records with 82 features</a:t>
            </a:r>
          </a:p>
          <a:p>
            <a:pPr marL="377031" lvl="1" indent="-188516" algn="l">
              <a:lnSpc>
                <a:spcPts val="3124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33,000 test records with 80 features.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7254" y="546587"/>
            <a:ext cx="8452991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400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Exploratory Data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13089" y="5295112"/>
            <a:ext cx="5575294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Actions Taken: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799710" y="0"/>
            <a:ext cx="5488289" cy="10287000"/>
            <a:chOff x="0" y="0"/>
            <a:chExt cx="7317718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7740" cy="13716000"/>
            </a:xfrm>
            <a:custGeom>
              <a:avLst/>
              <a:gdLst/>
              <a:ahLst/>
              <a:cxnLst/>
              <a:rect l="l" t="t" r="r" b="b"/>
              <a:pathLst>
                <a:path w="7317740" h="13716000">
                  <a:moveTo>
                    <a:pt x="0" y="0"/>
                  </a:moveTo>
                  <a:lnTo>
                    <a:pt x="7317740" y="0"/>
                  </a:lnTo>
                  <a:lnTo>
                    <a:pt x="731774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478" r="-1247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513089" y="1910650"/>
            <a:ext cx="12279788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 b="1">
                <a:solidFill>
                  <a:srgbClr val="3939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Univariate:</a:t>
            </a: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 Skewed income &amp; debt ratios; high outliers.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13089" y="2917026"/>
            <a:ext cx="12279788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 b="1">
                <a:solidFill>
                  <a:srgbClr val="3939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Bivariate:</a:t>
            </a: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 Default correlates with high debt_ratio and dependents.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3089" y="3923401"/>
            <a:ext cx="12279788" cy="1012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 b="1">
                <a:solidFill>
                  <a:srgbClr val="3939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 Distribution:</a:t>
            </a: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 Imbalanced (Default: 20.6%, Non-default: 79.4%).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25856" y="6034127"/>
            <a:ext cx="12279787" cy="2663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Used class weights to handle imbalance.</a:t>
            </a:r>
          </a:p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Applied robust scaling.</a:t>
            </a:r>
          </a:p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Chose tree-based models due to low correlation among features.</a:t>
            </a:r>
          </a:p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Used boxplots, heatmaps, and PR curves for insights</a:t>
            </a:r>
          </a:p>
          <a:p>
            <a:pPr marL="377031" lvl="1" indent="-188516" algn="l">
              <a:lnSpc>
                <a:spcPts val="3562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7" y="783281"/>
            <a:ext cx="1015437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400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Feature Selection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88659" y="2445220"/>
            <a:ext cx="4253854" cy="48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725" lvl="1" indent="-296862" algn="l">
              <a:lnSpc>
                <a:spcPts val="3437"/>
              </a:lnSpc>
              <a:buFont typeface="Arial"/>
              <a:buChar char="•"/>
            </a:pPr>
            <a:r>
              <a:rPr lang="en-US" sz="275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Why?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33939" y="3033201"/>
            <a:ext cx="7805886" cy="48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Original dataset contained 189 features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33939" y="3585949"/>
            <a:ext cx="7805886" cy="48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overfitting and model complexity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33939" y="4138696"/>
            <a:ext cx="7805886" cy="48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Improves training speed and generalization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33939" y="4691445"/>
            <a:ext cx="7805886" cy="48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Helps eliminate noise and irrelevant information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88659" y="5534408"/>
            <a:ext cx="8175362" cy="48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725" lvl="1" indent="-296862" algn="l">
              <a:lnSpc>
                <a:spcPts val="3437"/>
              </a:lnSpc>
              <a:buFont typeface="Arial"/>
              <a:buChar char="•"/>
            </a:pPr>
            <a:r>
              <a:rPr lang="en-US" sz="275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Technique 1: Information Value (IV)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33939" y="6097970"/>
            <a:ext cx="8983419" cy="47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0918" lvl="1" indent="-185459" algn="l">
              <a:lnSpc>
                <a:spcPts val="3504"/>
              </a:lnSpc>
              <a:buFont typeface="Arial"/>
              <a:buChar char="•"/>
            </a:pPr>
            <a:r>
              <a:rPr lang="en-US" sz="245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Measures strength of a feature in separating target classes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88659" y="7581412"/>
            <a:ext cx="9031465" cy="48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725" lvl="1" indent="-296862" algn="l">
              <a:lnSpc>
                <a:spcPts val="3437"/>
              </a:lnSpc>
              <a:buFont typeface="Arial"/>
              <a:buChar char="•"/>
            </a:pPr>
            <a:r>
              <a:rPr lang="en-US" sz="275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Technique 2: Pearson Correlation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33939" y="8147962"/>
            <a:ext cx="7805886" cy="1376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6872" lvl="1" indent="-18843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Identifies multicollinearity between features</a:t>
            </a:r>
          </a:p>
          <a:p>
            <a:pPr marL="376872" lvl="1" indent="-18843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Highly correlated features (≥ 75%) are redundant</a:t>
            </a:r>
          </a:p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16 features removed due to high pairwise correlation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33939" y="6677658"/>
            <a:ext cx="8983419" cy="47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0918" lvl="1" indent="-185459" algn="l">
              <a:lnSpc>
                <a:spcPts val="3504"/>
              </a:lnSpc>
              <a:buFont typeface="Arial"/>
              <a:buChar char="•"/>
            </a:pPr>
            <a:r>
              <a:rPr lang="en-US" sz="245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85 features removed due to low or suspicious IV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7" y="783281"/>
            <a:ext cx="1015437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0"/>
              </a:lnSpc>
            </a:pPr>
            <a:r>
              <a:rPr lang="en-US" sz="400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Model Selection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88659" y="2445220"/>
            <a:ext cx="4253854" cy="48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725" lvl="1" indent="-296862" algn="l">
              <a:lnSpc>
                <a:spcPts val="3437"/>
              </a:lnSpc>
              <a:buFont typeface="Arial"/>
              <a:buChar char="•"/>
            </a:pPr>
            <a:r>
              <a:rPr lang="en-US" sz="275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Models Tested: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33939" y="3033201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Regression (baseline, interpretable)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33939" y="3585949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Decision Tree (visual, simple)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33939" y="4138696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Random Forest (ensemble, robust)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33939" y="4691445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XGBoost (high accuracy, regularized)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88659" y="5933941"/>
            <a:ext cx="4253854" cy="48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725" lvl="1" indent="-296862" algn="l">
              <a:lnSpc>
                <a:spcPts val="3437"/>
              </a:lnSpc>
              <a:buFont typeface="Arial"/>
              <a:buChar char="•"/>
            </a:pPr>
            <a:r>
              <a:rPr lang="en-US" sz="275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Tuning Tool: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33939" y="6500491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GridSearchCV with 5-fold CV, optimized for ROC AUC.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88659" y="7420702"/>
            <a:ext cx="4253854" cy="48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725" lvl="1" indent="-296862" algn="l">
              <a:lnSpc>
                <a:spcPts val="3437"/>
              </a:lnSpc>
              <a:buFont typeface="Arial"/>
              <a:buChar char="•"/>
            </a:pPr>
            <a:r>
              <a:rPr lang="en-US" sz="275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Metrics: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33939" y="7987253"/>
            <a:ext cx="7805886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ROC AUC, F1, Precision, Recall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05172" y="814239"/>
            <a:ext cx="12593562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0"/>
              </a:lnSpc>
            </a:pPr>
            <a:r>
              <a:rPr lang="en-US" sz="400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Classification Metrics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227651" y="2509391"/>
            <a:ext cx="646510" cy="646510"/>
            <a:chOff x="0" y="0"/>
            <a:chExt cx="862013" cy="862013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862076" cy="862076"/>
            </a:xfrm>
            <a:custGeom>
              <a:avLst/>
              <a:gdLst/>
              <a:ahLst/>
              <a:cxnLst/>
              <a:rect l="l" t="t" r="r" b="b"/>
              <a:pathLst>
                <a:path w="862076" h="862076">
                  <a:moveTo>
                    <a:pt x="0" y="0"/>
                  </a:moveTo>
                  <a:lnTo>
                    <a:pt x="862076" y="0"/>
                  </a:lnTo>
                  <a:lnTo>
                    <a:pt x="862076" y="862076"/>
                  </a:lnTo>
                  <a:lnTo>
                    <a:pt x="0" y="862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7" b="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197415" y="2643782"/>
            <a:ext cx="3232845" cy="423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3000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Precision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41015" y="3255244"/>
            <a:ext cx="8649891" cy="489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250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Of predicted defaulters, how many were correct?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227651" y="4282231"/>
            <a:ext cx="646510" cy="646510"/>
            <a:chOff x="0" y="0"/>
            <a:chExt cx="862013" cy="862013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862076" cy="862076"/>
            </a:xfrm>
            <a:custGeom>
              <a:avLst/>
              <a:gdLst/>
              <a:ahLst/>
              <a:cxnLst/>
              <a:rect l="l" t="t" r="r" b="b"/>
              <a:pathLst>
                <a:path w="862076" h="862076">
                  <a:moveTo>
                    <a:pt x="0" y="0"/>
                  </a:moveTo>
                  <a:lnTo>
                    <a:pt x="862076" y="0"/>
                  </a:lnTo>
                  <a:lnTo>
                    <a:pt x="862076" y="862076"/>
                  </a:lnTo>
                  <a:lnTo>
                    <a:pt x="0" y="862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7" b="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197415" y="4416624"/>
            <a:ext cx="3232845" cy="423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3000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Recall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41015" y="5028084"/>
            <a:ext cx="8649891" cy="489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250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How many actual defaulters were identified?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227651" y="6055072"/>
            <a:ext cx="646510" cy="646510"/>
            <a:chOff x="0" y="0"/>
            <a:chExt cx="862013" cy="862013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862076" cy="862076"/>
            </a:xfrm>
            <a:custGeom>
              <a:avLst/>
              <a:gdLst/>
              <a:ahLst/>
              <a:cxnLst/>
              <a:rect l="l" t="t" r="r" b="b"/>
              <a:pathLst>
                <a:path w="862076" h="862076">
                  <a:moveTo>
                    <a:pt x="0" y="0"/>
                  </a:moveTo>
                  <a:lnTo>
                    <a:pt x="862076" y="0"/>
                  </a:lnTo>
                  <a:lnTo>
                    <a:pt x="862076" y="862076"/>
                  </a:lnTo>
                  <a:lnTo>
                    <a:pt x="0" y="862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7" b="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197415" y="6189464"/>
            <a:ext cx="3232845" cy="423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3000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F1 Score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41015" y="6800925"/>
            <a:ext cx="8649891" cy="489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250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Balance between Precision &amp; Recall.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227651" y="7827912"/>
            <a:ext cx="646510" cy="646510"/>
            <a:chOff x="0" y="0"/>
            <a:chExt cx="862013" cy="862013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862076" cy="862076"/>
            </a:xfrm>
            <a:custGeom>
              <a:avLst/>
              <a:gdLst/>
              <a:ahLst/>
              <a:cxnLst/>
              <a:rect l="l" t="t" r="r" b="b"/>
              <a:pathLst>
                <a:path w="862076" h="862076">
                  <a:moveTo>
                    <a:pt x="0" y="0"/>
                  </a:moveTo>
                  <a:lnTo>
                    <a:pt x="862076" y="0"/>
                  </a:lnTo>
                  <a:lnTo>
                    <a:pt x="862076" y="862076"/>
                  </a:lnTo>
                  <a:lnTo>
                    <a:pt x="0" y="862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7" b="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197415" y="7962305"/>
            <a:ext cx="3232845" cy="423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3000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ROC AUC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41015" y="8573765"/>
            <a:ext cx="8649891" cy="489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250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Ability to distinguish between default &amp; non-default across thresholds.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52824" y="920982"/>
            <a:ext cx="10381085" cy="699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8"/>
              </a:lnSpc>
            </a:pPr>
            <a:r>
              <a:rPr lang="en-US" sz="3999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Model Performance (Validation Results)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28185" y="8101186"/>
            <a:ext cx="14031629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Best model: </a:t>
            </a:r>
            <a:r>
              <a:rPr lang="en-US" sz="2499" b="1">
                <a:solidFill>
                  <a:srgbClr val="39393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Forest</a:t>
            </a: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 due to high ROC AUC and F1 score.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2045945" y="2474926"/>
          <a:ext cx="13985875" cy="4925476"/>
        </p:xfrm>
        <a:graphic>
          <a:graphicData uri="http://schemas.openxmlformats.org/drawingml/2006/table">
            <a:tbl>
              <a:tblPr/>
              <a:tblGrid>
                <a:gridCol w="2784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2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1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1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44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65698">
                <a:tc>
                  <a:txBody>
                    <a:bodyPr/>
                    <a:lstStyle/>
                    <a:p>
                      <a:pPr algn="l">
                        <a:lnSpc>
                          <a:spcPts val="5399"/>
                        </a:lnSpc>
                        <a:defRPr/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Model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399"/>
                        </a:lnSpc>
                        <a:defRPr/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Accuracy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399"/>
                        </a:lnSpc>
                        <a:defRPr/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ROC AUC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399"/>
                        </a:lnSpc>
                        <a:defRPr/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F1 Score</a:t>
                      </a:r>
                      <a:endParaRPr lang="en-US" sz="1100"/>
                    </a:p>
                    <a:p>
                      <a:pPr algn="l">
                        <a:lnSpc>
                          <a:spcPts val="5399"/>
                        </a:lnSpc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(Class 1)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399"/>
                        </a:lnSpc>
                        <a:defRPr/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Precision</a:t>
                      </a:r>
                      <a:endParaRPr lang="en-US" sz="1100"/>
                    </a:p>
                    <a:p>
                      <a:pPr algn="l">
                        <a:lnSpc>
                          <a:spcPts val="5399"/>
                        </a:lnSpc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(Class 1)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399"/>
                        </a:lnSpc>
                        <a:defRPr/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Recall</a:t>
                      </a:r>
                      <a:endParaRPr lang="en-US" sz="1100"/>
                    </a:p>
                    <a:p>
                      <a:pPr algn="l">
                        <a:lnSpc>
                          <a:spcPts val="5399"/>
                        </a:lnSpc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(Class 1)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331"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Random Forest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0.91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0.9633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0.8049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0.85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0.76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413"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0.90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0.9576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0.7906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0.82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0.76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623"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Decision Tree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0.85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0.8808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0.6855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0.75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0.63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7935"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 b="1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Logistic Regression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0.83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0.9057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0.7134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0.63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49"/>
                        </a:lnSpc>
                        <a:defRPr/>
                      </a:pPr>
                      <a:r>
                        <a:rPr lang="en-US" sz="224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0.82</a:t>
                      </a:r>
                      <a:endParaRPr lang="en-US" sz="110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49635" y="720340"/>
            <a:ext cx="7109966" cy="53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4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Visualizations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52900" y="1716359"/>
            <a:ext cx="11401864" cy="221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2000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 Curve: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Illustrates the trade-off between True Positive Rate and False Positive Rate.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52899" y="2538292"/>
            <a:ext cx="11401864" cy="221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2000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Precision-Recall Curve: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Useful for imbalanced datasets, focusing on the minority class.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52900" y="3360226"/>
            <a:ext cx="11401864" cy="221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2000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Comparison Bar Chart: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Visually compares ROC AUC and F1 scores across all models.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514600" y="3981450"/>
            <a:ext cx="13258800" cy="6200775"/>
            <a:chOff x="0" y="0"/>
            <a:chExt cx="17678400" cy="82677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7678400" cy="8267700"/>
            </a:xfrm>
            <a:custGeom>
              <a:avLst/>
              <a:gdLst/>
              <a:ahLst/>
              <a:cxnLst/>
              <a:rect l="l" t="t" r="r" b="b"/>
              <a:pathLst>
                <a:path w="17678400" h="8267700">
                  <a:moveTo>
                    <a:pt x="0" y="0"/>
                  </a:moveTo>
                  <a:lnTo>
                    <a:pt x="17678400" y="0"/>
                  </a:lnTo>
                  <a:lnTo>
                    <a:pt x="17678400" y="8267700"/>
                  </a:lnTo>
                  <a:lnTo>
                    <a:pt x="0" y="826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02456" y="530424"/>
            <a:ext cx="6506393" cy="54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0"/>
              </a:lnSpc>
            </a:pPr>
            <a:r>
              <a:rPr lang="en-US" sz="400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Visual Results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259485" y="11556504"/>
            <a:ext cx="172045" cy="172045"/>
            <a:chOff x="0" y="0"/>
            <a:chExt cx="229393" cy="2293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9362" cy="229362"/>
            </a:xfrm>
            <a:custGeom>
              <a:avLst/>
              <a:gdLst/>
              <a:ahLst/>
              <a:cxnLst/>
              <a:rect l="l" t="t" r="r" b="b"/>
              <a:pathLst>
                <a:path w="229362" h="229362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198882" y="0"/>
                  </a:lnTo>
                  <a:cubicBezTo>
                    <a:pt x="215773" y="0"/>
                    <a:pt x="229362" y="13589"/>
                    <a:pt x="229362" y="30480"/>
                  </a:cubicBezTo>
                  <a:lnTo>
                    <a:pt x="229362" y="198882"/>
                  </a:lnTo>
                  <a:cubicBezTo>
                    <a:pt x="229362" y="215773"/>
                    <a:pt x="215773" y="229362"/>
                    <a:pt x="198882" y="229362"/>
                  </a:cubicBezTo>
                  <a:lnTo>
                    <a:pt x="30480" y="229362"/>
                  </a:lnTo>
                  <a:cubicBezTo>
                    <a:pt x="13589" y="229362"/>
                    <a:pt x="0" y="215773"/>
                    <a:pt x="0" y="198882"/>
                  </a:cubicBezTo>
                  <a:close/>
                </a:path>
              </a:pathLst>
            </a:custGeom>
            <a:solidFill>
              <a:srgbClr val="22222A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507730" y="11575554"/>
            <a:ext cx="1222622" cy="15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312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Random Forest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517630" y="11556504"/>
            <a:ext cx="172045" cy="172045"/>
            <a:chOff x="0" y="0"/>
            <a:chExt cx="229393" cy="2293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9362" cy="229362"/>
            </a:xfrm>
            <a:custGeom>
              <a:avLst/>
              <a:gdLst/>
              <a:ahLst/>
              <a:cxnLst/>
              <a:rect l="l" t="t" r="r" b="b"/>
              <a:pathLst>
                <a:path w="229362" h="229362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198882" y="0"/>
                  </a:lnTo>
                  <a:cubicBezTo>
                    <a:pt x="215773" y="0"/>
                    <a:pt x="229362" y="13589"/>
                    <a:pt x="229362" y="30480"/>
                  </a:cubicBezTo>
                  <a:lnTo>
                    <a:pt x="229362" y="198882"/>
                  </a:lnTo>
                  <a:cubicBezTo>
                    <a:pt x="229362" y="215773"/>
                    <a:pt x="215773" y="229362"/>
                    <a:pt x="198882" y="229362"/>
                  </a:cubicBezTo>
                  <a:lnTo>
                    <a:pt x="30480" y="229362"/>
                  </a:lnTo>
                  <a:cubicBezTo>
                    <a:pt x="13589" y="229362"/>
                    <a:pt x="0" y="215773"/>
                    <a:pt x="0" y="198882"/>
                  </a:cubicBezTo>
                  <a:close/>
                </a:path>
              </a:pathLst>
            </a:custGeom>
            <a:solidFill>
              <a:srgbClr val="3B3B4A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765875" y="11575554"/>
            <a:ext cx="685949" cy="15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312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XGBoost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417225" y="11556504"/>
            <a:ext cx="172045" cy="172045"/>
            <a:chOff x="0" y="0"/>
            <a:chExt cx="229393" cy="2293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9362" cy="229362"/>
            </a:xfrm>
            <a:custGeom>
              <a:avLst/>
              <a:gdLst/>
              <a:ahLst/>
              <a:cxnLst/>
              <a:rect l="l" t="t" r="r" b="b"/>
              <a:pathLst>
                <a:path w="229362" h="229362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198882" y="0"/>
                  </a:lnTo>
                  <a:cubicBezTo>
                    <a:pt x="215773" y="0"/>
                    <a:pt x="229362" y="13589"/>
                    <a:pt x="229362" y="30480"/>
                  </a:cubicBezTo>
                  <a:lnTo>
                    <a:pt x="229362" y="198882"/>
                  </a:lnTo>
                  <a:cubicBezTo>
                    <a:pt x="229362" y="215773"/>
                    <a:pt x="215773" y="229362"/>
                    <a:pt x="198882" y="229362"/>
                  </a:cubicBezTo>
                  <a:lnTo>
                    <a:pt x="30480" y="229362"/>
                  </a:lnTo>
                  <a:cubicBezTo>
                    <a:pt x="13589" y="229362"/>
                    <a:pt x="0" y="215773"/>
                    <a:pt x="0" y="198882"/>
                  </a:cubicBezTo>
                  <a:close/>
                </a:path>
              </a:pathLst>
            </a:custGeom>
            <a:solidFill>
              <a:srgbClr val="54546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665470" y="11575554"/>
            <a:ext cx="1523554" cy="15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312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Logistic Regression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557647" y="11556504"/>
            <a:ext cx="172045" cy="172045"/>
            <a:chOff x="0" y="0"/>
            <a:chExt cx="229393" cy="2293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9362" cy="229362"/>
            </a:xfrm>
            <a:custGeom>
              <a:avLst/>
              <a:gdLst/>
              <a:ahLst/>
              <a:cxnLst/>
              <a:rect l="l" t="t" r="r" b="b"/>
              <a:pathLst>
                <a:path w="229362" h="229362">
                  <a:moveTo>
                    <a:pt x="0" y="30480"/>
                  </a:moveTo>
                  <a:cubicBezTo>
                    <a:pt x="0" y="13589"/>
                    <a:pt x="13589" y="0"/>
                    <a:pt x="30480" y="0"/>
                  </a:cubicBezTo>
                  <a:lnTo>
                    <a:pt x="198882" y="0"/>
                  </a:lnTo>
                  <a:cubicBezTo>
                    <a:pt x="215773" y="0"/>
                    <a:pt x="229362" y="13589"/>
                    <a:pt x="229362" y="30480"/>
                  </a:cubicBezTo>
                  <a:lnTo>
                    <a:pt x="229362" y="198882"/>
                  </a:lnTo>
                  <a:cubicBezTo>
                    <a:pt x="229362" y="215773"/>
                    <a:pt x="215773" y="229362"/>
                    <a:pt x="198882" y="229362"/>
                  </a:cubicBezTo>
                  <a:lnTo>
                    <a:pt x="30480" y="229362"/>
                  </a:lnTo>
                  <a:cubicBezTo>
                    <a:pt x="13589" y="229362"/>
                    <a:pt x="0" y="215773"/>
                    <a:pt x="0" y="198882"/>
                  </a:cubicBezTo>
                  <a:close/>
                </a:path>
              </a:pathLst>
            </a:custGeom>
            <a:solidFill>
              <a:srgbClr val="6D6D8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805892" y="11575554"/>
            <a:ext cx="1084809" cy="152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312">
                <a:solidFill>
                  <a:srgbClr val="39393C"/>
                </a:solidFill>
                <a:latin typeface="Open Sans"/>
                <a:ea typeface="Open Sans"/>
                <a:cs typeface="Open Sans"/>
                <a:sym typeface="Open Sans"/>
              </a:rPr>
              <a:t>Decision Tree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685942" y="1413161"/>
            <a:ext cx="14916115" cy="8400565"/>
            <a:chOff x="0" y="0"/>
            <a:chExt cx="19888153" cy="11200753"/>
          </a:xfrm>
        </p:grpSpPr>
        <p:sp>
          <p:nvSpPr>
            <p:cNvPr id="20" name="Freeform 20" descr="A graph of different colored bars  AI-generated content may be incorrect."/>
            <p:cNvSpPr/>
            <p:nvPr/>
          </p:nvSpPr>
          <p:spPr>
            <a:xfrm>
              <a:off x="0" y="0"/>
              <a:ext cx="19888200" cy="11200765"/>
            </a:xfrm>
            <a:custGeom>
              <a:avLst/>
              <a:gdLst/>
              <a:ahLst/>
              <a:cxnLst/>
              <a:rect l="l" t="t" r="r" b="b"/>
              <a:pathLst>
                <a:path w="19888200" h="11200765">
                  <a:moveTo>
                    <a:pt x="0" y="0"/>
                  </a:moveTo>
                  <a:lnTo>
                    <a:pt x="19888200" y="0"/>
                  </a:lnTo>
                  <a:lnTo>
                    <a:pt x="19888200" y="11200765"/>
                  </a:lnTo>
                  <a:lnTo>
                    <a:pt x="0" y="11200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378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0237" y="893266"/>
            <a:ext cx="9445526" cy="817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6"/>
              </a:lnSpc>
            </a:pPr>
            <a:r>
              <a:rPr lang="en-US" sz="4000" b="1">
                <a:solidFill>
                  <a:srgbClr val="101014"/>
                </a:solidFill>
                <a:latin typeface="Arial Bold"/>
                <a:ea typeface="Arial Bold"/>
                <a:cs typeface="Arial Bold"/>
                <a:sym typeface="Arial Bold"/>
              </a:rPr>
              <a:t>Final Model - Random Forest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50459" y="2183121"/>
            <a:ext cx="8524131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Most reliable in detecting defaulters and avoiding false positives.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0459" y="3388034"/>
            <a:ext cx="8524131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noise and outliers effectively.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50459" y="4592946"/>
            <a:ext cx="8524131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Suitable for mixed data types (numerical + categorical).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50459" y="5842187"/>
            <a:ext cx="5133292" cy="519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9393C"/>
                </a:solidFill>
                <a:latin typeface="Arial Bold"/>
                <a:ea typeface="Arial Bold"/>
                <a:cs typeface="Arial Bold"/>
                <a:sym typeface="Arial Bold"/>
              </a:rPr>
              <a:t>Best performance on: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50459" y="6426635"/>
            <a:ext cx="8524131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Accuracy: 91%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50459" y="6979383"/>
            <a:ext cx="8524131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ROC AUC: 0.9633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50459" y="7532130"/>
            <a:ext cx="8524131" cy="558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3562"/>
              </a:lnSpc>
              <a:buFont typeface="Arial"/>
              <a:buChar char="•"/>
            </a:pPr>
            <a:r>
              <a:rPr lang="en-US" sz="2499">
                <a:solidFill>
                  <a:srgbClr val="39393C"/>
                </a:solidFill>
                <a:latin typeface="Calibri (MS)"/>
                <a:ea typeface="Calibri (MS)"/>
                <a:cs typeface="Calibri (MS)"/>
                <a:sym typeface="Calibri (MS)"/>
              </a:rPr>
              <a:t>F1 Score: 0.8049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17829" y="973972"/>
            <a:ext cx="8961120" cy="58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4"/>
              </a:lnSpc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Business Impact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44216" y="2644002"/>
            <a:ext cx="11001516" cy="3918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Benefits: </a:t>
            </a:r>
          </a:p>
          <a:p>
            <a:pPr marL="377031" lvl="1" indent="-188516" algn="l">
              <a:lnSpc>
                <a:spcPts val="2999"/>
              </a:lnSpc>
            </a:pPr>
            <a:endParaRPr lang="en-US" sz="2499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948531" lvl="2" indent="-316177" algn="l">
              <a:lnSpc>
                <a:spcPts val="2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Early identification of high-risk customers</a:t>
            </a:r>
          </a:p>
          <a:p>
            <a:pPr marL="948531" lvl="2" indent="-316177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948531" lvl="2" indent="-316177" algn="l">
              <a:lnSpc>
                <a:spcPts val="2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Faster loan approvals for low-risk profiles</a:t>
            </a:r>
          </a:p>
          <a:p>
            <a:pPr marL="948531" lvl="2" indent="-316177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948531" lvl="2" indent="-316177" algn="l">
              <a:lnSpc>
                <a:spcPts val="2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compliance with explainable decisions</a:t>
            </a:r>
          </a:p>
          <a:p>
            <a:pPr marL="948531" lvl="2" indent="-316177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948531" lvl="2" indent="-316177" algn="l">
              <a:lnSpc>
                <a:spcPts val="2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Cuts operational cost via automation.</a:t>
            </a:r>
          </a:p>
          <a:p>
            <a:pPr marL="948531" lvl="2" indent="-316177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17829" y="640391"/>
            <a:ext cx="8961120" cy="640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3"/>
              </a:lnSpc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Final Recommendations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1869" y="2341720"/>
            <a:ext cx="11001516" cy="5457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Random Forest model in production.</a:t>
            </a:r>
          </a:p>
          <a:p>
            <a:pPr marL="377031" lvl="1" indent="-188516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77031" lvl="1" indent="-188516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Implement:</a:t>
            </a:r>
          </a:p>
          <a:p>
            <a:pPr marL="377031" lvl="1" indent="-188516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948531" lvl="2" indent="-316177" algn="l">
              <a:lnSpc>
                <a:spcPts val="2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Continuous monitoring</a:t>
            </a:r>
          </a:p>
          <a:p>
            <a:pPr marL="948531" lvl="2" indent="-316177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948531" lvl="2" indent="-316177" algn="l">
              <a:lnSpc>
                <a:spcPts val="2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Fairness and bias audits (e.g., gender, age groups)</a:t>
            </a:r>
          </a:p>
          <a:p>
            <a:pPr marL="948531" lvl="2" indent="-316177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948531" lvl="2" indent="-316177" algn="l">
              <a:lnSpc>
                <a:spcPts val="2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Periodic tuning</a:t>
            </a:r>
          </a:p>
          <a:p>
            <a:pPr marL="948531" lvl="2" indent="-316177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948531" lvl="2" indent="-316177" algn="l">
              <a:lnSpc>
                <a:spcPts val="2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Explainability tools like SHAP / LIME</a:t>
            </a:r>
          </a:p>
          <a:p>
            <a:pPr marL="948531" lvl="2" indent="-316177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948531" lvl="2" indent="-316177" algn="l">
              <a:lnSpc>
                <a:spcPts val="29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Advanced ensemble techniques (stacking RF + XGBoost)</a:t>
            </a:r>
          </a:p>
          <a:p>
            <a:pPr marL="948531" lvl="2" indent="-316177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C0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90721"/>
            <a:chOff x="0" y="0"/>
            <a:chExt cx="9144000" cy="13720962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20953"/>
            </a:xfrm>
            <a:custGeom>
              <a:avLst/>
              <a:gdLst/>
              <a:ahLst/>
              <a:cxnLst/>
              <a:rect l="l" t="t" r="r" b="b"/>
              <a:pathLst>
                <a:path w="9144000" h="13720953">
                  <a:moveTo>
                    <a:pt x="0" y="0"/>
                  </a:moveTo>
                  <a:lnTo>
                    <a:pt x="9144000" y="0"/>
                  </a:lnTo>
                  <a:lnTo>
                    <a:pt x="9144000" y="13720953"/>
                  </a:lnTo>
                  <a:lnTo>
                    <a:pt x="0" y="13720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" r="-1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71550" y="401240"/>
            <a:ext cx="9486900" cy="871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85"/>
              </a:lnSpc>
            </a:pPr>
            <a:r>
              <a:rPr lang="en-US" sz="3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13814" y="2319563"/>
            <a:ext cx="8961120" cy="3534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7031" lvl="1" indent="-188516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Built multiple models to predict credit default.</a:t>
            </a:r>
          </a:p>
          <a:p>
            <a:pPr marL="377031" lvl="1" indent="-188516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77031" lvl="1" indent="-188516" algn="l">
              <a:lnSpc>
                <a:spcPts val="29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Random Forest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emerged best for deployment.</a:t>
            </a:r>
          </a:p>
          <a:p>
            <a:pPr marL="377031" lvl="1" indent="-188516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77031" lvl="1" indent="-188516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Logistic Regression: Good recall, poor precision.</a:t>
            </a:r>
          </a:p>
          <a:p>
            <a:pPr marL="377031" lvl="1" indent="-188516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77031" lvl="1" indent="-188516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Decision Tree: Too simple.</a:t>
            </a:r>
          </a:p>
          <a:p>
            <a:pPr marL="377031" lvl="1" indent="-188516" algn="l">
              <a:lnSpc>
                <a:spcPts val="2999"/>
              </a:lnSpc>
            </a:pPr>
            <a:endParaRPr lang="en-US" sz="24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77031" lvl="1" indent="-188516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XGBoost: Promising alternative, slightly behind Random Forest.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807</Words>
  <Application>Microsoft Office PowerPoint</Application>
  <PresentationFormat>Custom</PresentationFormat>
  <Paragraphs>191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 (MS) Bold</vt:lpstr>
      <vt:lpstr>Open Sans</vt:lpstr>
      <vt:lpstr>Arial</vt:lpstr>
      <vt:lpstr>Calibri (MS)</vt:lpstr>
      <vt:lpstr>Arial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Admin</dc:creator>
  <cp:lastModifiedBy>Avanthika Devasane</cp:lastModifiedBy>
  <cp:revision>2</cp:revision>
  <dcterms:created xsi:type="dcterms:W3CDTF">2006-08-16T00:00:00Z</dcterms:created>
  <dcterms:modified xsi:type="dcterms:W3CDTF">2025-06-22T13:59:34Z</dcterms:modified>
  <dc:identifier>DAGq9ikYGB8</dc:identifier>
</cp:coreProperties>
</file>